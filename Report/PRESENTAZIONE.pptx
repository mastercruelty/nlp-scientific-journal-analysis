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spostare la diapositiva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delle note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E170D88-5586-44EE-ADB6-4BD842C5C0F3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68523A-86CC-4997-8E06-724981E530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C762EB9-6897-4968-A2B4-C293B0E5D88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9B6FC54-99F0-4C18-8412-A28CCE656D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D04C8B-45D3-4B54-B8B9-61B0087F56F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40E2A2-A57A-4E6B-9842-F57F339027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CFAB29-541D-47BC-9747-0FE3AA971B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8A3A00-C117-4291-A0BB-E920C93FF6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3160" cy="308304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3160" cy="35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8560" cy="45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40AE24-1CBB-434F-8524-7A38467F23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 titolo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Secondo livello struttura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Terzo livello struttura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Settimo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0760" cy="6984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73080"/>
            <a:ext cx="316800" cy="4843080"/>
          </a:xfrm>
          <a:prstGeom prst="rect">
            <a:avLst/>
          </a:prstGeom>
          <a:solidFill>
            <a:srgbClr val="2aafa8"/>
          </a:solidFill>
          <a:ln w="12700">
            <a:solidFill>
              <a:srgbClr val="2aafa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411480"/>
            <a:ext cx="77691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pc="300" strike="noStrike">
                <a:solidFill>
                  <a:srgbClr val="00bfa5"/>
                </a:solidFill>
                <a:effectLst/>
                <a:uFillTx/>
                <a:latin typeface="Calibri"/>
                <a:ea typeface="Calibri"/>
              </a:rPr>
              <a:t>Natural Language Processing</a:t>
            </a:r>
            <a:endParaRPr lang="it-IT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914400"/>
            <a:ext cx="7769160" cy="182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P7: Analyzing Thematic Alignment in Scientific Journals AY 2025/2026</a:t>
            </a:r>
            <a:endParaRPr lang="it-IT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48640" y="2697480"/>
            <a:ext cx="7769160" cy="45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548640" y="3291840"/>
            <a:ext cx="8046720" cy="360"/>
          </a:xfrm>
          <a:prstGeom prst="line">
            <a:avLst/>
          </a:prstGeom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40000" y="3475080"/>
            <a:ext cx="77691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Roberto Antoniello  ·  47891A</a:t>
            </a:r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660000" y="3475080"/>
            <a:ext cx="776916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Università degli Studi di Milano</a:t>
            </a:r>
            <a:endParaRPr lang="it-IT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0" y="4919400"/>
            <a:ext cx="9140760" cy="2206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0" y="4919400"/>
            <a:ext cx="91407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Roberto Antoniello  ·  47891A  ·  Natural Language Processing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8640000" y="70920"/>
            <a:ext cx="502920" cy="50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0" y="0"/>
            <a:ext cx="9140760" cy="499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365760" y="64080"/>
            <a:ext cx="822636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Project goal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0" y="4919400"/>
            <a:ext cx="9140760" cy="220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3"/>
          <p:cNvSpPr/>
          <p:nvPr/>
        </p:nvSpPr>
        <p:spPr>
          <a:xfrm>
            <a:off x="0" y="4919400"/>
            <a:ext cx="91407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Roberto Antoniello  ·  47891A  ·  Natural Language Processing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4"/>
          <p:cNvSpPr/>
          <p:nvPr/>
        </p:nvSpPr>
        <p:spPr>
          <a:xfrm>
            <a:off x="320040" y="658440"/>
            <a:ext cx="3974400" cy="415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5"/>
          <p:cNvSpPr/>
          <p:nvPr/>
        </p:nvSpPr>
        <p:spPr>
          <a:xfrm>
            <a:off x="320040" y="658440"/>
            <a:ext cx="3974400" cy="3808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6"/>
          <p:cNvSpPr/>
          <p:nvPr/>
        </p:nvSpPr>
        <p:spPr>
          <a:xfrm>
            <a:off x="320040" y="658440"/>
            <a:ext cx="397440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Research Question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457200" y="1143000"/>
            <a:ext cx="3700080" cy="356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Scientific journals define their thematic boundaries through Aim &amp; Scope section.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Is it possible to assess quantitatively the coherence between published articles and the declared scope?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This leads to the need of having a systematic and reproducible method to assess this evaluation.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4845240" y="658440"/>
            <a:ext cx="3974400" cy="415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4846320" y="658440"/>
            <a:ext cx="3974400" cy="380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0"/>
          <p:cNvSpPr/>
          <p:nvPr/>
        </p:nvSpPr>
        <p:spPr>
          <a:xfrm>
            <a:off x="4846320" y="658440"/>
            <a:ext cx="397440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Goal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1"/>
          <p:cNvSpPr/>
          <p:nvPr/>
        </p:nvSpPr>
        <p:spPr>
          <a:xfrm>
            <a:off x="5364000" y="1218600"/>
            <a:ext cx="3093120" cy="359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lang="en-US" sz="1300" b="1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Introduction of  a quantitative framework which measures the semantic alignment between published articles and the declared scope.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i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Detection of thematic drift over time and potential outliers.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040000" y="1260000"/>
            <a:ext cx="177120" cy="177120"/>
          </a:xfrm>
          <a:prstGeom prst="rect">
            <a:avLst/>
          </a:prstGeom>
          <a:solidFill>
            <a:srgbClr val="1b7f79"/>
          </a:solidFill>
          <a:ln w="126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040000" y="2797200"/>
            <a:ext cx="177120" cy="177120"/>
          </a:xfrm>
          <a:prstGeom prst="rect">
            <a:avLst/>
          </a:prstGeom>
          <a:solidFill>
            <a:srgbClr val="1b7f79"/>
          </a:solidFill>
          <a:ln w="126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"/>
          <p:cNvPicPr/>
          <p:nvPr/>
        </p:nvPicPr>
        <p:blipFill>
          <a:blip r:embed="rId1"/>
          <a:stretch/>
        </p:blipFill>
        <p:spPr>
          <a:xfrm>
            <a:off x="8640000" y="0"/>
            <a:ext cx="502920" cy="50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"/>
          <p:cNvSpPr/>
          <p:nvPr/>
        </p:nvSpPr>
        <p:spPr>
          <a:xfrm>
            <a:off x="0" y="0"/>
            <a:ext cx="9140760" cy="499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365760" y="64080"/>
            <a:ext cx="822636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Dataset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1"/>
          <p:cNvSpPr/>
          <p:nvPr/>
        </p:nvSpPr>
        <p:spPr>
          <a:xfrm>
            <a:off x="320040" y="658440"/>
            <a:ext cx="2648520" cy="118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320040" y="658440"/>
            <a:ext cx="2648520" cy="60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320040" y="749880"/>
            <a:ext cx="264852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1.530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8"/>
          <p:cNvSpPr/>
          <p:nvPr/>
        </p:nvSpPr>
        <p:spPr>
          <a:xfrm>
            <a:off x="320040" y="1344240"/>
            <a:ext cx="26485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Articles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5"/>
          <p:cNvSpPr/>
          <p:nvPr/>
        </p:nvSpPr>
        <p:spPr>
          <a:xfrm>
            <a:off x="3200400" y="658440"/>
            <a:ext cx="2648520" cy="118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7"/>
          <p:cNvSpPr/>
          <p:nvPr/>
        </p:nvSpPr>
        <p:spPr>
          <a:xfrm>
            <a:off x="3200400" y="658440"/>
            <a:ext cx="2648520" cy="60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3200400" y="749880"/>
            <a:ext cx="264852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Jan 2021– Dec 2025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2"/>
          <p:cNvSpPr/>
          <p:nvPr/>
        </p:nvSpPr>
        <p:spPr>
          <a:xfrm>
            <a:off x="3200400" y="1344240"/>
            <a:ext cx="26485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Range of time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9"/>
          <p:cNvSpPr/>
          <p:nvPr/>
        </p:nvSpPr>
        <p:spPr>
          <a:xfrm>
            <a:off x="6080760" y="658440"/>
            <a:ext cx="2648520" cy="1185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1"/>
          <p:cNvSpPr/>
          <p:nvPr/>
        </p:nvSpPr>
        <p:spPr>
          <a:xfrm>
            <a:off x="6080760" y="658440"/>
            <a:ext cx="2648520" cy="60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4"/>
          <p:cNvSpPr/>
          <p:nvPr/>
        </p:nvSpPr>
        <p:spPr>
          <a:xfrm>
            <a:off x="6080760" y="749880"/>
            <a:ext cx="2648520" cy="5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Crossref API</a:t>
            </a:r>
            <a:endParaRPr lang="it-IT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6"/>
          <p:cNvSpPr/>
          <p:nvPr/>
        </p:nvSpPr>
        <p:spPr>
          <a:xfrm>
            <a:off x="6080760" y="1344240"/>
            <a:ext cx="264852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Data source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3"/>
          <p:cNvSpPr/>
          <p:nvPr/>
        </p:nvSpPr>
        <p:spPr>
          <a:xfrm>
            <a:off x="320040" y="2030040"/>
            <a:ext cx="2648520" cy="264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5"/>
          <p:cNvSpPr/>
          <p:nvPr/>
        </p:nvSpPr>
        <p:spPr>
          <a:xfrm>
            <a:off x="320040" y="2030040"/>
            <a:ext cx="2648520" cy="3441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7"/>
          <p:cNvSpPr/>
          <p:nvPr/>
        </p:nvSpPr>
        <p:spPr>
          <a:xfrm>
            <a:off x="320040" y="2030040"/>
            <a:ext cx="26485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Dataset attributes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6"/>
          <p:cNvSpPr/>
          <p:nvPr/>
        </p:nvSpPr>
        <p:spPr>
          <a:xfrm>
            <a:off x="502920" y="2541960"/>
            <a:ext cx="2282760" cy="344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8"/>
          <p:cNvSpPr/>
          <p:nvPr/>
        </p:nvSpPr>
        <p:spPr>
          <a:xfrm>
            <a:off x="502920" y="2541960"/>
            <a:ext cx="228276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title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9"/>
          <p:cNvSpPr/>
          <p:nvPr/>
        </p:nvSpPr>
        <p:spPr>
          <a:xfrm>
            <a:off x="502920" y="3026520"/>
            <a:ext cx="2282760" cy="344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9"/>
          <p:cNvSpPr/>
          <p:nvPr/>
        </p:nvSpPr>
        <p:spPr>
          <a:xfrm>
            <a:off x="502920" y="3026520"/>
            <a:ext cx="228276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abstract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0"/>
          <p:cNvSpPr/>
          <p:nvPr/>
        </p:nvSpPr>
        <p:spPr>
          <a:xfrm>
            <a:off x="502920" y="3511440"/>
            <a:ext cx="2282760" cy="344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0"/>
          <p:cNvSpPr/>
          <p:nvPr/>
        </p:nvSpPr>
        <p:spPr>
          <a:xfrm>
            <a:off x="502920" y="3511440"/>
            <a:ext cx="228276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doi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1"/>
          <p:cNvSpPr/>
          <p:nvPr/>
        </p:nvSpPr>
        <p:spPr>
          <a:xfrm>
            <a:off x="502920" y="3996000"/>
            <a:ext cx="2282760" cy="344160"/>
          </a:xfrm>
          <a:prstGeom prst="rect">
            <a:avLst/>
          </a:prstGeom>
          <a:solidFill>
            <a:srgbClr val="f0f4f8"/>
          </a:solidFill>
          <a:ln w="12700">
            <a:solidFill>
              <a:srgbClr val="d0d0d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1"/>
          <p:cNvSpPr/>
          <p:nvPr/>
        </p:nvSpPr>
        <p:spPr>
          <a:xfrm>
            <a:off x="502920" y="3996000"/>
            <a:ext cx="228276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onsolas"/>
                <a:ea typeface="Consolas"/>
              </a:rPr>
              <a:t>year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32"/>
          <p:cNvSpPr/>
          <p:nvPr/>
        </p:nvSpPr>
        <p:spPr>
          <a:xfrm>
            <a:off x="3200400" y="2030040"/>
            <a:ext cx="5620320" cy="264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33"/>
          <p:cNvSpPr/>
          <p:nvPr/>
        </p:nvSpPr>
        <p:spPr>
          <a:xfrm>
            <a:off x="3200400" y="2030040"/>
            <a:ext cx="5620320" cy="34416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2"/>
          <p:cNvSpPr/>
          <p:nvPr/>
        </p:nvSpPr>
        <p:spPr>
          <a:xfrm>
            <a:off x="3200400" y="2030040"/>
            <a:ext cx="56203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Articles distribution per year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4" name="Table 2"/>
          <p:cNvGraphicFramePr/>
          <p:nvPr/>
        </p:nvGraphicFramePr>
        <p:xfrm>
          <a:off x="3383280" y="2468880"/>
          <a:ext cx="5257080" cy="201096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</a:tblGrid>
              <a:tr h="3351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Year</a:t>
                      </a:r>
                      <a:endParaRPr lang="it-IT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Articles</a:t>
                      </a:r>
                      <a:endParaRPr lang="it-IT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2021</a:t>
                      </a:r>
                      <a:endParaRPr lang="it-IT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192</a:t>
                      </a:r>
                      <a:endParaRPr lang="it-IT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2022</a:t>
                      </a:r>
                      <a:endParaRPr lang="it-IT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276</a:t>
                      </a:r>
                      <a:endParaRPr lang="it-IT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2023</a:t>
                      </a:r>
                      <a:endParaRPr lang="it-IT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216</a:t>
                      </a:r>
                      <a:endParaRPr lang="it-IT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2024</a:t>
                      </a:r>
                      <a:endParaRPr lang="it-IT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292</a:t>
                      </a:r>
                      <a:endParaRPr lang="it-IT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2025</a:t>
                      </a:r>
                      <a:endParaRPr lang="it-IT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3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554</a:t>
                      </a:r>
                      <a:endParaRPr lang="it-IT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Shape 12"/>
          <p:cNvSpPr/>
          <p:nvPr/>
        </p:nvSpPr>
        <p:spPr>
          <a:xfrm>
            <a:off x="0" y="4919400"/>
            <a:ext cx="9140760" cy="220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Roberto Antoniello  ·  47891A  ·  Natural Language Processing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"/>
          <p:cNvPicPr/>
          <p:nvPr/>
        </p:nvPicPr>
        <p:blipFill>
          <a:blip r:embed="rId1"/>
          <a:stretch/>
        </p:blipFill>
        <p:spPr>
          <a:xfrm>
            <a:off x="8640000" y="0"/>
            <a:ext cx="502920" cy="50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16"/>
          <p:cNvSpPr/>
          <p:nvPr/>
        </p:nvSpPr>
        <p:spPr>
          <a:xfrm>
            <a:off x="0" y="0"/>
            <a:ext cx="9140760" cy="4996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5"/>
          <p:cNvSpPr/>
          <p:nvPr/>
        </p:nvSpPr>
        <p:spPr>
          <a:xfrm>
            <a:off x="365760" y="64080"/>
            <a:ext cx="822636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Workflow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8"/>
          <p:cNvSpPr/>
          <p:nvPr/>
        </p:nvSpPr>
        <p:spPr>
          <a:xfrm>
            <a:off x="595080" y="777240"/>
            <a:ext cx="1734120" cy="3197160"/>
          </a:xfrm>
          <a:prstGeom prst="rect">
            <a:avLst/>
          </a:prstGeom>
          <a:solidFill>
            <a:srgbClr val="04224b"/>
          </a:solidFill>
          <a:ln w="1905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1"/>
          <p:cNvSpPr/>
          <p:nvPr/>
        </p:nvSpPr>
        <p:spPr>
          <a:xfrm>
            <a:off x="1189440" y="868680"/>
            <a:ext cx="5454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3"/>
          <p:cNvSpPr/>
          <p:nvPr/>
        </p:nvSpPr>
        <p:spPr>
          <a:xfrm>
            <a:off x="686520" y="900000"/>
            <a:ext cx="1551240" cy="7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0bfa5"/>
                </a:solidFill>
                <a:effectLst/>
                <a:uFillTx/>
                <a:latin typeface="Calibri"/>
                <a:ea typeface="Calibri"/>
              </a:rPr>
              <a:t>Preprocessing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4"/>
          <p:cNvSpPr/>
          <p:nvPr/>
        </p:nvSpPr>
        <p:spPr>
          <a:xfrm>
            <a:off x="815040" y="1800000"/>
            <a:ext cx="1280160" cy="360"/>
          </a:xfrm>
          <a:prstGeom prst="line">
            <a:avLst/>
          </a:prstGeom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5"/>
          <p:cNvSpPr/>
          <p:nvPr/>
        </p:nvSpPr>
        <p:spPr>
          <a:xfrm>
            <a:off x="701280" y="1800000"/>
            <a:ext cx="1551240" cy="143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Removal of HTML tags during data collection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 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whitespace normalization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Removal of non-printable characters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8"/>
          <p:cNvSpPr/>
          <p:nvPr/>
        </p:nvSpPr>
        <p:spPr>
          <a:xfrm>
            <a:off x="2698200" y="777240"/>
            <a:ext cx="1734120" cy="3197160"/>
          </a:xfrm>
          <a:prstGeom prst="rect">
            <a:avLst/>
          </a:prstGeom>
          <a:solidFill>
            <a:srgbClr val="04224b"/>
          </a:solidFill>
          <a:ln w="1905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4"/>
          <p:cNvSpPr/>
          <p:nvPr/>
        </p:nvSpPr>
        <p:spPr>
          <a:xfrm>
            <a:off x="2789640" y="900000"/>
            <a:ext cx="1551240" cy="7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0bfa5"/>
                </a:solidFill>
                <a:effectLst/>
                <a:uFillTx/>
                <a:latin typeface="Calibri"/>
                <a:ea typeface="Calibri"/>
              </a:rPr>
              <a:t>Embedding generation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40"/>
          <p:cNvSpPr/>
          <p:nvPr/>
        </p:nvSpPr>
        <p:spPr>
          <a:xfrm>
            <a:off x="2954880" y="1800000"/>
            <a:ext cx="1280160" cy="360"/>
          </a:xfrm>
          <a:prstGeom prst="line">
            <a:avLst/>
          </a:prstGeom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5"/>
          <p:cNvSpPr/>
          <p:nvPr/>
        </p:nvSpPr>
        <p:spPr>
          <a:xfrm>
            <a:off x="2789640" y="1800000"/>
            <a:ext cx="1530000" cy="20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Every abstract and the declared scope are encoded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using a pretrained  model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43"/>
          <p:cNvSpPr/>
          <p:nvPr/>
        </p:nvSpPr>
        <p:spPr>
          <a:xfrm>
            <a:off x="4801320" y="777240"/>
            <a:ext cx="1734120" cy="3197160"/>
          </a:xfrm>
          <a:prstGeom prst="rect">
            <a:avLst/>
          </a:prstGeom>
          <a:solidFill>
            <a:srgbClr val="04224b"/>
          </a:solidFill>
          <a:ln w="1905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6"/>
          <p:cNvSpPr/>
          <p:nvPr/>
        </p:nvSpPr>
        <p:spPr>
          <a:xfrm>
            <a:off x="5395680" y="868680"/>
            <a:ext cx="5454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7"/>
          <p:cNvSpPr/>
          <p:nvPr/>
        </p:nvSpPr>
        <p:spPr>
          <a:xfrm>
            <a:off x="4892760" y="900000"/>
            <a:ext cx="1551240" cy="7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0bfa5"/>
                </a:solidFill>
                <a:effectLst/>
                <a:uFillTx/>
                <a:latin typeface="Calibri"/>
                <a:ea typeface="Calibri"/>
              </a:rPr>
              <a:t>Cosine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0bfa5"/>
                </a:solidFill>
                <a:effectLst/>
                <a:uFillTx/>
                <a:latin typeface="Calibri"/>
                <a:ea typeface="Calibri"/>
              </a:rPr>
              <a:t>Similarity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45"/>
          <p:cNvSpPr/>
          <p:nvPr/>
        </p:nvSpPr>
        <p:spPr>
          <a:xfrm>
            <a:off x="4955040" y="1800000"/>
            <a:ext cx="1280160" cy="360"/>
          </a:xfrm>
          <a:prstGeom prst="line">
            <a:avLst/>
          </a:prstGeom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8"/>
          <p:cNvSpPr/>
          <p:nvPr/>
        </p:nvSpPr>
        <p:spPr>
          <a:xfrm>
            <a:off x="4892760" y="1800000"/>
            <a:ext cx="1551240" cy="20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Computation of alignment score 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48"/>
          <p:cNvSpPr/>
          <p:nvPr/>
        </p:nvSpPr>
        <p:spPr>
          <a:xfrm>
            <a:off x="6904440" y="777240"/>
            <a:ext cx="1734120" cy="3197160"/>
          </a:xfrm>
          <a:prstGeom prst="rect">
            <a:avLst/>
          </a:prstGeom>
          <a:solidFill>
            <a:srgbClr val="04224b"/>
          </a:solidFill>
          <a:ln w="1905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39"/>
          <p:cNvSpPr/>
          <p:nvPr/>
        </p:nvSpPr>
        <p:spPr>
          <a:xfrm>
            <a:off x="7498800" y="868680"/>
            <a:ext cx="5454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40"/>
          <p:cNvSpPr/>
          <p:nvPr/>
        </p:nvSpPr>
        <p:spPr>
          <a:xfrm>
            <a:off x="6995880" y="900000"/>
            <a:ext cx="1551240" cy="71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0bfa5"/>
                </a:solidFill>
                <a:effectLst/>
                <a:uFillTx/>
                <a:latin typeface="Calibri"/>
                <a:ea typeface="Calibri"/>
              </a:rPr>
              <a:t>Temporal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1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0bfa5"/>
                </a:solidFill>
                <a:effectLst/>
                <a:uFillTx/>
                <a:latin typeface="Calibri"/>
                <a:ea typeface="Calibri"/>
              </a:rPr>
              <a:t>Analysis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50"/>
          <p:cNvSpPr/>
          <p:nvPr/>
        </p:nvSpPr>
        <p:spPr>
          <a:xfrm>
            <a:off x="7115040" y="1800000"/>
            <a:ext cx="1280160" cy="360"/>
          </a:xfrm>
          <a:prstGeom prst="line">
            <a:avLst/>
          </a:prstGeom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1"/>
          <p:cNvSpPr/>
          <p:nvPr/>
        </p:nvSpPr>
        <p:spPr>
          <a:xfrm>
            <a:off x="6995880" y="1980000"/>
            <a:ext cx="1551240" cy="18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Score distribution analysis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Temporal drift analysis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0" y="4919400"/>
            <a:ext cx="9140760" cy="2206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Roberto Antoniello  ·  47891A  ·  Natural Language Processing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2330640" y="2340000"/>
            <a:ext cx="36756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433760" y="2340000"/>
            <a:ext cx="36756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536880" y="2340000"/>
            <a:ext cx="36756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"/>
          <p:cNvPicPr/>
          <p:nvPr/>
        </p:nvPicPr>
        <p:blipFill>
          <a:blip r:embed="rId1"/>
          <a:stretch/>
        </p:blipFill>
        <p:spPr>
          <a:xfrm>
            <a:off x="8640000" y="0"/>
            <a:ext cx="503280" cy="50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20"/>
          <p:cNvSpPr/>
          <p:nvPr/>
        </p:nvSpPr>
        <p:spPr>
          <a:xfrm>
            <a:off x="0" y="0"/>
            <a:ext cx="9140760" cy="4996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365760" y="64080"/>
            <a:ext cx="822636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Embedding generation &amp; similarity computation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8"/>
          <p:cNvSpPr/>
          <p:nvPr/>
        </p:nvSpPr>
        <p:spPr>
          <a:xfrm>
            <a:off x="0" y="4919400"/>
            <a:ext cx="9140760" cy="2206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9"/>
          <p:cNvSpPr/>
          <p:nvPr/>
        </p:nvSpPr>
        <p:spPr>
          <a:xfrm>
            <a:off x="0" y="4919400"/>
            <a:ext cx="914076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Roberto Antoniello  ·  47891A  ·  Natural Language Processing</a:t>
            </a:r>
            <a:endParaRPr lang="it-IT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4"/>
          <p:cNvSpPr/>
          <p:nvPr/>
        </p:nvSpPr>
        <p:spPr>
          <a:xfrm>
            <a:off x="320040" y="658440"/>
            <a:ext cx="3974400" cy="4157280"/>
          </a:xfrm>
          <a:prstGeom prst="rect">
            <a:avLst/>
          </a:prstGeom>
          <a:solidFill>
            <a:srgbClr val="04224b"/>
          </a:solidFill>
          <a:ln w="1908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42"/>
          <p:cNvSpPr/>
          <p:nvPr/>
        </p:nvSpPr>
        <p:spPr>
          <a:xfrm>
            <a:off x="457200" y="822960"/>
            <a:ext cx="37000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0bfa5"/>
                </a:solidFill>
                <a:effectLst/>
                <a:uFillTx/>
                <a:latin typeface="Calibri"/>
                <a:ea typeface="Calibri"/>
              </a:rPr>
              <a:t>Model used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5"/>
          <p:cNvSpPr/>
          <p:nvPr/>
        </p:nvSpPr>
        <p:spPr>
          <a:xfrm>
            <a:off x="457200" y="1234440"/>
            <a:ext cx="3566160" cy="360"/>
          </a:xfrm>
          <a:prstGeom prst="line">
            <a:avLst/>
          </a:prstGeom>
          <a:ln w="9525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3"/>
          <p:cNvSpPr/>
          <p:nvPr/>
        </p:nvSpPr>
        <p:spPr>
          <a:xfrm>
            <a:off x="457200" y="1371600"/>
            <a:ext cx="3654360" cy="32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Allenai-specter, a transformer-based model  specialized in scientific texts. It was fine-tuned using citation links between papers as a supervision signal.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Output: 768-dimensional embedding vectors.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36"/>
          <p:cNvSpPr/>
          <p:nvPr/>
        </p:nvSpPr>
        <p:spPr>
          <a:xfrm>
            <a:off x="4846320" y="658440"/>
            <a:ext cx="3974400" cy="4157280"/>
          </a:xfrm>
          <a:prstGeom prst="rect">
            <a:avLst/>
          </a:prstGeom>
          <a:solidFill>
            <a:srgbClr val="04224b"/>
          </a:solidFill>
          <a:ln w="1908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44"/>
          <p:cNvSpPr/>
          <p:nvPr/>
        </p:nvSpPr>
        <p:spPr>
          <a:xfrm>
            <a:off x="4983480" y="822960"/>
            <a:ext cx="37000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0bfa5"/>
                </a:solidFill>
                <a:effectLst/>
                <a:uFillTx/>
                <a:latin typeface="Calibri"/>
                <a:ea typeface="Calibri"/>
              </a:rPr>
              <a:t>Cosine similarity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51"/>
          <p:cNvSpPr/>
          <p:nvPr/>
        </p:nvSpPr>
        <p:spPr>
          <a:xfrm>
            <a:off x="4983480" y="1234440"/>
            <a:ext cx="3566160" cy="360"/>
          </a:xfrm>
          <a:prstGeom prst="line">
            <a:avLst/>
          </a:prstGeom>
          <a:ln w="9525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5"/>
          <p:cNvSpPr/>
          <p:nvPr/>
        </p:nvSpPr>
        <p:spPr>
          <a:xfrm>
            <a:off x="4983480" y="1371600"/>
            <a:ext cx="3654360" cy="328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Cosine similarity is computed between each article’s abstract embedding and the journal’s scope embedding.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Input: 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1530 abstracts embeddings 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1 scope embedding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"/>
          <p:cNvPicPr/>
          <p:nvPr/>
        </p:nvPicPr>
        <p:blipFill>
          <a:blip r:embed="rId1"/>
          <a:stretch/>
        </p:blipFill>
        <p:spPr>
          <a:xfrm>
            <a:off x="8640000" y="0"/>
            <a:ext cx="503280" cy="50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57"/>
          <p:cNvSpPr/>
          <p:nvPr/>
        </p:nvSpPr>
        <p:spPr>
          <a:xfrm>
            <a:off x="0" y="0"/>
            <a:ext cx="9140760" cy="499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7"/>
          <p:cNvSpPr/>
          <p:nvPr/>
        </p:nvSpPr>
        <p:spPr>
          <a:xfrm>
            <a:off x="365760" y="64080"/>
            <a:ext cx="822636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Results – alignment score distribution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52"/>
          <p:cNvSpPr/>
          <p:nvPr/>
        </p:nvSpPr>
        <p:spPr>
          <a:xfrm>
            <a:off x="320040" y="658440"/>
            <a:ext cx="1917000" cy="100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53"/>
          <p:cNvSpPr/>
          <p:nvPr/>
        </p:nvSpPr>
        <p:spPr>
          <a:xfrm>
            <a:off x="320040" y="658440"/>
            <a:ext cx="1917000" cy="60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8"/>
          <p:cNvSpPr/>
          <p:nvPr/>
        </p:nvSpPr>
        <p:spPr>
          <a:xfrm>
            <a:off x="320040" y="713160"/>
            <a:ext cx="19170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0.727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9"/>
          <p:cNvSpPr/>
          <p:nvPr/>
        </p:nvSpPr>
        <p:spPr>
          <a:xfrm>
            <a:off x="320040" y="1261800"/>
            <a:ext cx="191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Mean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54"/>
          <p:cNvSpPr/>
          <p:nvPr/>
        </p:nvSpPr>
        <p:spPr>
          <a:xfrm>
            <a:off x="2468880" y="658440"/>
            <a:ext cx="1917000" cy="100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55"/>
          <p:cNvSpPr/>
          <p:nvPr/>
        </p:nvSpPr>
        <p:spPr>
          <a:xfrm>
            <a:off x="2468880" y="658440"/>
            <a:ext cx="1917000" cy="60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50"/>
          <p:cNvSpPr/>
          <p:nvPr/>
        </p:nvSpPr>
        <p:spPr>
          <a:xfrm>
            <a:off x="2468880" y="713160"/>
            <a:ext cx="19170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0.065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1"/>
          <p:cNvSpPr/>
          <p:nvPr/>
        </p:nvSpPr>
        <p:spPr>
          <a:xfrm>
            <a:off x="2468880" y="1261800"/>
            <a:ext cx="191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Std. Deviation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56"/>
          <p:cNvSpPr/>
          <p:nvPr/>
        </p:nvSpPr>
        <p:spPr>
          <a:xfrm>
            <a:off x="4617720" y="658440"/>
            <a:ext cx="1917000" cy="100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58"/>
          <p:cNvSpPr/>
          <p:nvPr/>
        </p:nvSpPr>
        <p:spPr>
          <a:xfrm>
            <a:off x="4617720" y="658440"/>
            <a:ext cx="1917000" cy="60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2"/>
          <p:cNvSpPr/>
          <p:nvPr/>
        </p:nvSpPr>
        <p:spPr>
          <a:xfrm>
            <a:off x="4617720" y="713160"/>
            <a:ext cx="19170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0.516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53"/>
          <p:cNvSpPr/>
          <p:nvPr/>
        </p:nvSpPr>
        <p:spPr>
          <a:xfrm>
            <a:off x="4617720" y="1261800"/>
            <a:ext cx="191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Min value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59"/>
          <p:cNvSpPr/>
          <p:nvPr/>
        </p:nvSpPr>
        <p:spPr>
          <a:xfrm>
            <a:off x="6766560" y="658440"/>
            <a:ext cx="1917000" cy="1002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60"/>
          <p:cNvSpPr/>
          <p:nvPr/>
        </p:nvSpPr>
        <p:spPr>
          <a:xfrm>
            <a:off x="6766560" y="658440"/>
            <a:ext cx="1917000" cy="608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54"/>
          <p:cNvSpPr/>
          <p:nvPr/>
        </p:nvSpPr>
        <p:spPr>
          <a:xfrm>
            <a:off x="6766560" y="713160"/>
            <a:ext cx="191700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0.907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55"/>
          <p:cNvSpPr/>
          <p:nvPr/>
        </p:nvSpPr>
        <p:spPr>
          <a:xfrm>
            <a:off x="6766560" y="1261800"/>
            <a:ext cx="191700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Max value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61"/>
          <p:cNvSpPr/>
          <p:nvPr/>
        </p:nvSpPr>
        <p:spPr>
          <a:xfrm>
            <a:off x="320040" y="1828800"/>
            <a:ext cx="5025960" cy="2922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6"/>
          <p:cNvSpPr/>
          <p:nvPr/>
        </p:nvSpPr>
        <p:spPr>
          <a:xfrm>
            <a:off x="320040" y="1828800"/>
            <a:ext cx="5025960" cy="29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[ Fig. 1 — Global Distribution of Alignment Scores 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62"/>
          <p:cNvSpPr/>
          <p:nvPr/>
        </p:nvSpPr>
        <p:spPr>
          <a:xfrm>
            <a:off x="5577840" y="1828800"/>
            <a:ext cx="3242880" cy="2922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63"/>
          <p:cNvSpPr/>
          <p:nvPr/>
        </p:nvSpPr>
        <p:spPr>
          <a:xfrm>
            <a:off x="5577840" y="1828800"/>
            <a:ext cx="3242880" cy="3625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58"/>
          <p:cNvSpPr/>
          <p:nvPr/>
        </p:nvSpPr>
        <p:spPr>
          <a:xfrm>
            <a:off x="5577840" y="1828800"/>
            <a:ext cx="324288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Interpretation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4"/>
          <p:cNvSpPr/>
          <p:nvPr/>
        </p:nvSpPr>
        <p:spPr>
          <a:xfrm>
            <a:off x="5715000" y="2331720"/>
            <a:ext cx="161280" cy="16128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59"/>
          <p:cNvSpPr/>
          <p:nvPr/>
        </p:nvSpPr>
        <p:spPr>
          <a:xfrm>
            <a:off x="5989320" y="2286000"/>
            <a:ext cx="2739960" cy="56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The distribution is strongly concentrated around the mean with limited dispersion,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65"/>
          <p:cNvSpPr/>
          <p:nvPr/>
        </p:nvSpPr>
        <p:spPr>
          <a:xfrm>
            <a:off x="5715000" y="2926080"/>
            <a:ext cx="161280" cy="16128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0"/>
          <p:cNvSpPr/>
          <p:nvPr/>
        </p:nvSpPr>
        <p:spPr>
          <a:xfrm>
            <a:off x="5989320" y="2880360"/>
            <a:ext cx="2739960" cy="56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The majority of published articles is semantically aligned to the declared scope.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66"/>
          <p:cNvSpPr/>
          <p:nvPr/>
        </p:nvSpPr>
        <p:spPr>
          <a:xfrm>
            <a:off x="5715000" y="3520440"/>
            <a:ext cx="161280" cy="16128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61"/>
          <p:cNvSpPr/>
          <p:nvPr/>
        </p:nvSpPr>
        <p:spPr>
          <a:xfrm>
            <a:off x="5989320" y="3474720"/>
            <a:ext cx="2739960" cy="56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Aligned score &lt; 0.6 potentially identifies articles deviating of scope(outliers),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67"/>
          <p:cNvSpPr/>
          <p:nvPr/>
        </p:nvSpPr>
        <p:spPr>
          <a:xfrm>
            <a:off x="5715000" y="4114800"/>
            <a:ext cx="161280" cy="161280"/>
          </a:xfrm>
          <a:prstGeom prst="ellipse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2"/>
          <p:cNvSpPr/>
          <p:nvPr/>
        </p:nvSpPr>
        <p:spPr>
          <a:xfrm>
            <a:off x="5989320" y="4069080"/>
            <a:ext cx="2739960" cy="56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Aligned score &gt; 0.85 indicates a strong alignment to the declared scope.</a:t>
            </a:r>
            <a:endParaRPr lang="it-IT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68"/>
          <p:cNvSpPr/>
          <p:nvPr/>
        </p:nvSpPr>
        <p:spPr>
          <a:xfrm>
            <a:off x="0" y="4919400"/>
            <a:ext cx="9140760" cy="220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Roberto Antoniello  ·  47891A  ·  Natural Language Processing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8" name=""/>
          <p:cNvPicPr/>
          <p:nvPr/>
        </p:nvPicPr>
        <p:blipFill>
          <a:blip r:embed="rId1"/>
          <a:stretch/>
        </p:blipFill>
        <p:spPr>
          <a:xfrm>
            <a:off x="320040" y="1980000"/>
            <a:ext cx="5019840" cy="2472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"/>
          <p:cNvPicPr/>
          <p:nvPr/>
        </p:nvPicPr>
        <p:blipFill>
          <a:blip r:embed="rId2"/>
          <a:stretch/>
        </p:blipFill>
        <p:spPr>
          <a:xfrm>
            <a:off x="8640000" y="0"/>
            <a:ext cx="502920" cy="50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73"/>
          <p:cNvSpPr/>
          <p:nvPr/>
        </p:nvSpPr>
        <p:spPr>
          <a:xfrm>
            <a:off x="0" y="0"/>
            <a:ext cx="9140760" cy="499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4"/>
          <p:cNvSpPr/>
          <p:nvPr/>
        </p:nvSpPr>
        <p:spPr>
          <a:xfrm>
            <a:off x="365760" y="64080"/>
            <a:ext cx="822636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Results – Temporal analysis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69"/>
          <p:cNvSpPr/>
          <p:nvPr/>
        </p:nvSpPr>
        <p:spPr>
          <a:xfrm>
            <a:off x="320040" y="658440"/>
            <a:ext cx="5025960" cy="319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57"/>
          <p:cNvSpPr/>
          <p:nvPr/>
        </p:nvSpPr>
        <p:spPr>
          <a:xfrm>
            <a:off x="320040" y="658440"/>
            <a:ext cx="5025960" cy="31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[ Fig. 2 — Temporal Trend of Alignment Score ]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70"/>
          <p:cNvSpPr/>
          <p:nvPr/>
        </p:nvSpPr>
        <p:spPr>
          <a:xfrm>
            <a:off x="5577840" y="658440"/>
            <a:ext cx="3242880" cy="3197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5" name="Table 3"/>
          <p:cNvGraphicFramePr/>
          <p:nvPr/>
        </p:nvGraphicFramePr>
        <p:xfrm>
          <a:off x="5623560" y="704160"/>
          <a:ext cx="3154320" cy="306288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</a:tblGrid>
              <a:tr h="5104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Year</a:t>
                      </a:r>
                      <a:endParaRPr lang="it-IT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Mean</a:t>
                      </a:r>
                      <a:endParaRPr lang="it-IT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Std</a:t>
                      </a:r>
                      <a:endParaRPr lang="it-IT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0d1b2a"/>
                    </a:solidFill>
                  </a:tcPr>
                </a:tc>
              </a:tr>
              <a:tr h="5104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2021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0.708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0.065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04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2022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0.718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0.061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04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2023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0.733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0.059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04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2024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0.729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0.069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048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2025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0.736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0.066</a:t>
                      </a:r>
                      <a:endParaRPr lang="it-IT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e0e0e0"/>
                      </a:solidFill>
                      <a:prstDash val="solid"/>
                    </a:lnL>
                    <a:lnR w="12240">
                      <a:solidFill>
                        <a:srgbClr val="e0e0e0"/>
                      </a:solidFill>
                      <a:prstDash val="solid"/>
                    </a:lnR>
                    <a:lnT w="12240">
                      <a:solidFill>
                        <a:srgbClr val="e0e0e0"/>
                      </a:solidFill>
                      <a:prstDash val="solid"/>
                    </a:lnT>
                    <a:lnB w="1224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6" name="Shape 71"/>
          <p:cNvSpPr/>
          <p:nvPr/>
        </p:nvSpPr>
        <p:spPr>
          <a:xfrm>
            <a:off x="320040" y="3960000"/>
            <a:ext cx="4157280" cy="92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72"/>
          <p:cNvSpPr/>
          <p:nvPr/>
        </p:nvSpPr>
        <p:spPr>
          <a:xfrm>
            <a:off x="320040" y="3960000"/>
            <a:ext cx="69840" cy="9295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4"/>
          <p:cNvSpPr/>
          <p:nvPr/>
        </p:nvSpPr>
        <p:spPr>
          <a:xfrm>
            <a:off x="502920" y="3960000"/>
            <a:ext cx="38372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Mean trend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5"/>
          <p:cNvSpPr/>
          <p:nvPr/>
        </p:nvSpPr>
        <p:spPr>
          <a:xfrm>
            <a:off x="502920" y="4233600"/>
            <a:ext cx="3837240" cy="56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Gradual increase from 0.708 (2021) to 0.736 (2025). No negative drifts, editorial coherence doesn’t decrease over time.</a:t>
            </a: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74"/>
          <p:cNvSpPr/>
          <p:nvPr/>
        </p:nvSpPr>
        <p:spPr>
          <a:xfrm>
            <a:off x="4709160" y="3960000"/>
            <a:ext cx="4157280" cy="92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75"/>
          <p:cNvSpPr/>
          <p:nvPr/>
        </p:nvSpPr>
        <p:spPr>
          <a:xfrm>
            <a:off x="4709160" y="3960000"/>
            <a:ext cx="69840" cy="92952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66"/>
          <p:cNvSpPr/>
          <p:nvPr/>
        </p:nvSpPr>
        <p:spPr>
          <a:xfrm>
            <a:off x="4892040" y="3960000"/>
            <a:ext cx="3837240" cy="27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Dispersion</a:t>
            </a:r>
            <a:endParaRPr lang="it-IT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7"/>
          <p:cNvSpPr/>
          <p:nvPr/>
        </p:nvSpPr>
        <p:spPr>
          <a:xfrm>
            <a:off x="4892040" y="4233600"/>
            <a:ext cx="3837240" cy="56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Dispersion remains relatively stable over time, indicating limited thematic heterogeneity across publication years.</a:t>
            </a:r>
            <a:endParaRPr lang="it-IT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"/>
          <p:cNvPicPr/>
          <p:nvPr/>
        </p:nvPicPr>
        <p:blipFill>
          <a:blip r:embed="rId1"/>
          <a:stretch/>
        </p:blipFill>
        <p:spPr>
          <a:xfrm>
            <a:off x="360000" y="900000"/>
            <a:ext cx="4950720" cy="243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Shape 90"/>
          <p:cNvSpPr/>
          <p:nvPr/>
        </p:nvSpPr>
        <p:spPr>
          <a:xfrm>
            <a:off x="0" y="4919400"/>
            <a:ext cx="9140760" cy="220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Roberto Antoniello  ·  47891A  ·  Natural Language Processing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6" name=""/>
          <p:cNvPicPr/>
          <p:nvPr/>
        </p:nvPicPr>
        <p:blipFill>
          <a:blip r:embed="rId2"/>
          <a:stretch/>
        </p:blipFill>
        <p:spPr>
          <a:xfrm>
            <a:off x="8640000" y="0"/>
            <a:ext cx="502920" cy="50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80"/>
          <p:cNvSpPr/>
          <p:nvPr/>
        </p:nvSpPr>
        <p:spPr>
          <a:xfrm>
            <a:off x="0" y="0"/>
            <a:ext cx="9140760" cy="4996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63"/>
          <p:cNvSpPr/>
          <p:nvPr/>
        </p:nvSpPr>
        <p:spPr>
          <a:xfrm>
            <a:off x="365760" y="64080"/>
            <a:ext cx="8226360" cy="38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Conclusions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76"/>
          <p:cNvSpPr/>
          <p:nvPr/>
        </p:nvSpPr>
        <p:spPr>
          <a:xfrm>
            <a:off x="320040" y="685800"/>
            <a:ext cx="4157280" cy="1917000"/>
          </a:xfrm>
          <a:prstGeom prst="rect">
            <a:avLst/>
          </a:prstGeom>
          <a:solidFill>
            <a:srgbClr val="04224b"/>
          </a:solidFill>
          <a:ln w="1908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8"/>
          <p:cNvSpPr/>
          <p:nvPr/>
        </p:nvSpPr>
        <p:spPr>
          <a:xfrm>
            <a:off x="484560" y="85032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9"/>
          <p:cNvSpPr/>
          <p:nvPr/>
        </p:nvSpPr>
        <p:spPr>
          <a:xfrm>
            <a:off x="484560" y="868680"/>
            <a:ext cx="3855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bfa5"/>
                </a:solidFill>
                <a:effectLst/>
                <a:uFillTx/>
                <a:latin typeface="Calibri"/>
                <a:ea typeface="Calibri"/>
              </a:rPr>
              <a:t>Quantitative framework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78"/>
          <p:cNvSpPr/>
          <p:nvPr/>
        </p:nvSpPr>
        <p:spPr>
          <a:xfrm>
            <a:off x="502920" y="1343880"/>
            <a:ext cx="3794760" cy="360"/>
          </a:xfrm>
          <a:prstGeom prst="line">
            <a:avLst/>
          </a:prstGeom>
          <a:ln w="9525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0"/>
          <p:cNvSpPr/>
          <p:nvPr/>
        </p:nvSpPr>
        <p:spPr>
          <a:xfrm>
            <a:off x="502920" y="1435680"/>
            <a:ext cx="379152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A reproducible method to evaluate semantic alignment between published articles and the declared scope of a selected scientific journal, based on quantitative semantic measures.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79"/>
          <p:cNvSpPr/>
          <p:nvPr/>
        </p:nvSpPr>
        <p:spPr>
          <a:xfrm>
            <a:off x="320040" y="2788920"/>
            <a:ext cx="4157280" cy="1917000"/>
          </a:xfrm>
          <a:prstGeom prst="rect">
            <a:avLst/>
          </a:prstGeom>
          <a:solidFill>
            <a:srgbClr val="04224b"/>
          </a:solidFill>
          <a:ln w="1908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71"/>
          <p:cNvSpPr/>
          <p:nvPr/>
        </p:nvSpPr>
        <p:spPr>
          <a:xfrm>
            <a:off x="484560" y="295344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72"/>
          <p:cNvSpPr/>
          <p:nvPr/>
        </p:nvSpPr>
        <p:spPr>
          <a:xfrm>
            <a:off x="484560" y="2971800"/>
            <a:ext cx="3855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bfa5"/>
                </a:solidFill>
                <a:effectLst/>
                <a:uFillTx/>
                <a:latin typeface="Calibri"/>
                <a:ea typeface="Calibri"/>
              </a:rPr>
              <a:t>Frontiers in Artificial Intelligence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82"/>
          <p:cNvSpPr/>
          <p:nvPr/>
        </p:nvSpPr>
        <p:spPr>
          <a:xfrm>
            <a:off x="502920" y="3447000"/>
            <a:ext cx="3794760" cy="360"/>
          </a:xfrm>
          <a:prstGeom prst="line">
            <a:avLst/>
          </a:prstGeom>
          <a:ln w="9525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3"/>
          <p:cNvSpPr/>
          <p:nvPr/>
        </p:nvSpPr>
        <p:spPr>
          <a:xfrm>
            <a:off x="502920" y="3538800"/>
            <a:ext cx="379152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A global mean of 0.727  indicates that the journal maintains editorial coherence during the selected period of time 2021-2025.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83"/>
          <p:cNvSpPr/>
          <p:nvPr/>
        </p:nvSpPr>
        <p:spPr>
          <a:xfrm>
            <a:off x="4754880" y="685800"/>
            <a:ext cx="4157280" cy="1917000"/>
          </a:xfrm>
          <a:prstGeom prst="rect">
            <a:avLst/>
          </a:prstGeom>
          <a:solidFill>
            <a:srgbClr val="04224b"/>
          </a:solidFill>
          <a:ln w="1908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75"/>
          <p:cNvSpPr/>
          <p:nvPr/>
        </p:nvSpPr>
        <p:spPr>
          <a:xfrm>
            <a:off x="4860000" y="868680"/>
            <a:ext cx="39150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bfa5"/>
                </a:solidFill>
                <a:effectLst/>
                <a:uFillTx/>
                <a:latin typeface="Calibri"/>
                <a:ea typeface="Calibri"/>
              </a:rPr>
              <a:t>Possible improvements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85"/>
          <p:cNvSpPr/>
          <p:nvPr/>
        </p:nvSpPr>
        <p:spPr>
          <a:xfrm>
            <a:off x="4937760" y="1343880"/>
            <a:ext cx="3794760" cy="360"/>
          </a:xfrm>
          <a:prstGeom prst="line">
            <a:avLst/>
          </a:prstGeom>
          <a:ln w="9525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76"/>
          <p:cNvSpPr/>
          <p:nvPr/>
        </p:nvSpPr>
        <p:spPr>
          <a:xfrm>
            <a:off x="4937760" y="1435680"/>
            <a:ext cx="379152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A comparison of alignment score between multiple journals of the same sector.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86"/>
          <p:cNvSpPr/>
          <p:nvPr/>
        </p:nvSpPr>
        <p:spPr>
          <a:xfrm>
            <a:off x="4754880" y="2788920"/>
            <a:ext cx="4157280" cy="1917000"/>
          </a:xfrm>
          <a:prstGeom prst="rect">
            <a:avLst/>
          </a:prstGeom>
          <a:solidFill>
            <a:srgbClr val="04224b"/>
          </a:solidFill>
          <a:ln w="1908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240" rIns="93240" tIns="48240" bIns="48240" anchor="t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77"/>
          <p:cNvSpPr/>
          <p:nvPr/>
        </p:nvSpPr>
        <p:spPr>
          <a:xfrm>
            <a:off x="4919400" y="2953440"/>
            <a:ext cx="408240" cy="4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78"/>
          <p:cNvSpPr/>
          <p:nvPr/>
        </p:nvSpPr>
        <p:spPr>
          <a:xfrm>
            <a:off x="4919400" y="2971800"/>
            <a:ext cx="385560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00bfa5"/>
                </a:solidFill>
                <a:effectLst/>
                <a:uFillTx/>
                <a:latin typeface="Calibri"/>
                <a:ea typeface="Calibri"/>
              </a:rPr>
              <a:t>Limitations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88"/>
          <p:cNvSpPr/>
          <p:nvPr/>
        </p:nvSpPr>
        <p:spPr>
          <a:xfrm>
            <a:off x="4937760" y="3447000"/>
            <a:ext cx="3794760" cy="360"/>
          </a:xfrm>
          <a:prstGeom prst="line">
            <a:avLst/>
          </a:prstGeom>
          <a:ln w="9525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79"/>
          <p:cNvSpPr/>
          <p:nvPr/>
        </p:nvSpPr>
        <p:spPr>
          <a:xfrm>
            <a:off x="4937760" y="3538800"/>
            <a:ext cx="3791520" cy="104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b0bec5"/>
                </a:solidFill>
                <a:effectLst/>
                <a:uFillTx/>
                <a:latin typeface="Calibri"/>
                <a:ea typeface="Calibri"/>
              </a:rPr>
              <a:t>The analysis is limited to 5 years and a single journal. </a:t>
            </a:r>
            <a:endParaRPr lang="it-IT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80"/>
          <p:cNvSpPr/>
          <p:nvPr/>
        </p:nvSpPr>
        <p:spPr>
          <a:xfrm>
            <a:off x="457200" y="4591080"/>
            <a:ext cx="8317800" cy="3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91"/>
          <p:cNvSpPr/>
          <p:nvPr/>
        </p:nvSpPr>
        <p:spPr>
          <a:xfrm>
            <a:off x="0" y="4919400"/>
            <a:ext cx="9140760" cy="220680"/>
          </a:xfrm>
          <a:prstGeom prst="rect">
            <a:avLst/>
          </a:prstGeom>
          <a:solidFill>
            <a:srgbClr val="1b7f79"/>
          </a:solidFill>
          <a:ln w="12700">
            <a:solidFill>
              <a:srgbClr val="1b7f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Roberto Antoniello  ·  47891A  ·  Natural Language Processing</a:t>
            </a:r>
            <a:endParaRPr lang="it-IT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0" name=""/>
          <p:cNvPicPr/>
          <p:nvPr/>
        </p:nvPicPr>
        <p:blipFill>
          <a:blip r:embed="rId1"/>
          <a:stretch/>
        </p:blipFill>
        <p:spPr>
          <a:xfrm>
            <a:off x="8640000" y="0"/>
            <a:ext cx="502920" cy="502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</TotalTime>
  <Application>LibreOffice/25.8.6.2$Windows_X86_64 LibreOffice_project/b4b39682cd9868fa725bc664aff94278d315bd04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2026-04-09T21:21:24Z</dcterms:created>
  <dc:creator>PptxGenJS</dc:creator>
  <dc:description/>
  <dc:language>it-IT</dc:language>
  <cp:lastModifiedBy/>
  <cp:lastPrinted>2026-04-11T14:57:07Z</cp:lastPrinted>
  <dcterms:modified xsi:type="dcterms:W3CDTF">2026-05-29T00:04:12Z</dcterms:modified>
  <cp:revision>88</cp:revision>
  <dc:subject>PptxGenJS Presentation</dc:subject>
  <dc:title>Template - Roberto Antoniello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